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Apple Stock Price Analysis &amp; Forecasting</a:t>
            </a:r>
          </a:p>
        </p:txBody>
      </p:sp>
      <p:sp>
        <p:nvSpPr>
          <p:cNvPr id="3" name="Content Placeholder 2"/>
          <p:cNvSpPr>
            <a:spLocks noGrp="1"/>
          </p:cNvSpPr>
          <p:nvPr>
            <p:ph idx="1"/>
          </p:nvPr>
        </p:nvSpPr>
        <p:spPr/>
        <p:txBody>
          <a:bodyPr/>
          <a:lstStyle/>
          <a:p>
            <a:r>
              <a:t>Tools Used:</a:t>
            </a:r>
          </a:p>
          <a:p>
            <a:r>
              <a:t>• Python</a:t>
            </a:r>
          </a:p>
          <a:p>
            <a:r>
              <a:t>• Pandas</a:t>
            </a:r>
          </a:p>
          <a:p>
            <a:r>
              <a:t>• Matplotlib</a:t>
            </a:r>
          </a:p>
          <a:p>
            <a:r>
              <a:t>• Seaborn</a:t>
            </a:r>
          </a:p>
          <a:p>
            <a:r>
              <a:t>• Plotly</a:t>
            </a:r>
          </a:p>
          <a:p>
            <a:r>
              <a:t>• Statsmodels</a:t>
            </a:r>
          </a:p>
          <a:p>
            <a:r>
              <a:t>• Scikit-Learn</a:t>
            </a:r>
          </a:p>
          <a:p/>
          <a:p>
            <a:r>
              <a:t>Presented by:</a:t>
            </a:r>
          </a:p>
          <a:p>
            <a:r>
              <a:t>Akhil Patoliya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sp>
        <p:nvSpPr>
          <p:cNvPr id="3" name="Content Placeholder 2"/>
          <p:cNvSpPr>
            <a:spLocks noGrp="1"/>
          </p:cNvSpPr>
          <p:nvPr>
            <p:ph idx="1"/>
          </p:nvPr>
        </p:nvSpPr>
        <p:spPr/>
        <p:txBody>
          <a:bodyPr/>
          <a:lstStyle/>
          <a:p>
            <a:r>
              <a:t>1. Problem Statement &amp; Objective</a:t>
            </a:r>
          </a:p>
          <a:p>
            <a:r>
              <a:t>2. Dataset Summary</a:t>
            </a:r>
          </a:p>
          <a:p>
            <a:r>
              <a:t>3. Time Series EDA &amp; Workflow</a:t>
            </a:r>
          </a:p>
          <a:p>
            <a:r>
              <a:t>4. Key Questions Explored</a:t>
            </a:r>
          </a:p>
          <a:p>
            <a:r>
              <a:t>5. Insights – Visualization &amp; Inference</a:t>
            </a:r>
          </a:p>
          <a:p>
            <a:r>
              <a:t>6. Forecast &amp; Prediction</a:t>
            </a:r>
          </a:p>
          <a:p>
            <a:r>
              <a:t>7. Future Work</a:t>
            </a:r>
          </a:p>
          <a:p>
            <a:r>
              <a:t>8. Conclusion &amp;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 &amp; Objective</a:t>
            </a:r>
          </a:p>
        </p:txBody>
      </p:sp>
      <p:sp>
        <p:nvSpPr>
          <p:cNvPr id="3" name="Content Placeholder 2"/>
          <p:cNvSpPr>
            <a:spLocks noGrp="1"/>
          </p:cNvSpPr>
          <p:nvPr>
            <p:ph idx="1"/>
          </p:nvPr>
        </p:nvSpPr>
        <p:spPr/>
        <p:txBody>
          <a:bodyPr/>
          <a:lstStyle/>
          <a:p>
            <a:r>
              <a:t>Problem Statement:</a:t>
            </a:r>
          </a:p>
          <a:p>
            <a:r>
              <a:t>Investors and analysts need to understand and anticipate stock price movements to make informed financial decisions. Apple Inc., being one of the most actively traded stocks, shows trends and volatility that are difficult to interpret without systematic analysis.</a:t>
            </a:r>
          </a:p>
          <a:p/>
          <a:p>
            <a:r>
              <a:t>Objective:</a:t>
            </a:r>
          </a:p>
          <a:p>
            <a:r>
              <a:t>• Analyze historical Apple stock price data</a:t>
            </a:r>
          </a:p>
          <a:p>
            <a:r>
              <a:t>• Identify trends, patterns, and volatility</a:t>
            </a:r>
          </a:p>
          <a:p>
            <a:r>
              <a:t>• Forecast future stock prices using time-series techniques</a:t>
            </a:r>
          </a:p>
          <a:p>
            <a:r>
              <a:t>• Present insights in a simple, non-technical manner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Summary</a:t>
            </a:r>
          </a:p>
        </p:txBody>
      </p:sp>
      <p:sp>
        <p:nvSpPr>
          <p:cNvPr id="3" name="Content Placeholder 2"/>
          <p:cNvSpPr>
            <a:spLocks noGrp="1"/>
          </p:cNvSpPr>
          <p:nvPr>
            <p:ph idx="1"/>
          </p:nvPr>
        </p:nvSpPr>
        <p:spPr/>
        <p:txBody>
          <a:bodyPr/>
          <a:lstStyle/>
          <a:p>
            <a:r>
              <a:t>Dataset Source: Historical Apple (AAPL) Stock Prices</a:t>
            </a:r>
          </a:p>
          <a:p>
            <a:r>
              <a:t>Time Period: January 2015 – Latest Available</a:t>
            </a:r>
          </a:p>
          <a:p>
            <a:r>
              <a:t>Total Records: 2515 trading days</a:t>
            </a:r>
          </a:p>
          <a:p/>
          <a:p>
            <a:r>
              <a:t>Features:</a:t>
            </a:r>
          </a:p>
          <a:p>
            <a:r>
              <a:t>• Open – Opening price</a:t>
            </a:r>
          </a:p>
          <a:p>
            <a:r>
              <a:t>• High – Highest price of the day</a:t>
            </a:r>
          </a:p>
          <a:p>
            <a:r>
              <a:t>• Low – Lowest price of the day</a:t>
            </a:r>
          </a:p>
          <a:p>
            <a:r>
              <a:t>• Close – Closing price</a:t>
            </a:r>
          </a:p>
          <a:p>
            <a:r>
              <a:t>• Volume – Number of shares traded</a:t>
            </a:r>
          </a:p>
          <a:p/>
          <a:p>
            <a:r>
              <a:t>Data Characteristics:</a:t>
            </a:r>
          </a:p>
          <a:p>
            <a:r>
              <a:t>• Date used as index</a:t>
            </a:r>
          </a:p>
          <a:p>
            <a:r>
              <a:t>• No missing trading days</a:t>
            </a:r>
          </a:p>
          <a:p>
            <a:r>
              <a:t>• Float columns: 4 | Integer column: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